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Arquitetura do Pipeline — Danca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48056"/>
            <a:ext cx="8595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 i="0">
                <a:solidFill>
                  <a:srgbClr val="A8B8CC"/>
                </a:solidFill>
                <a:latin typeface="Arial"/>
              </a:rPr>
              <a:t>TCC01 . Engenharia de Computacao . UNIFEI .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685800"/>
            <a:ext cx="2743200" cy="493776"/>
          </a:xfrm>
          <a:prstGeom prst="roundRect">
            <a:avLst/>
          </a:prstGeom>
          <a:solidFill>
            <a:srgbClr val="00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68580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Camera Android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914400"/>
            <a:ext cx="2743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0">
                <a:solidFill>
                  <a:srgbClr val="A8B8CC"/>
                </a:solidFill>
                <a:latin typeface="Arial"/>
              </a:rPr>
              <a:t>CameraX . ImageAnalysis (backpressure)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179576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8BEDD"/>
                </a:solidFill>
                <a:latin typeface="Arial"/>
              </a:rP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380744"/>
            <a:ext cx="8595360" cy="630936"/>
          </a:xfrm>
          <a:prstGeom prst="roundRect">
            <a:avLst/>
          </a:prstGeom>
          <a:solidFill>
            <a:srgbClr val="00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99032"/>
            <a:ext cx="8595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MediaPipe Pose Landmarker  .  BlazePose 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73352"/>
            <a:ext cx="8595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 i="0">
                <a:solidFill>
                  <a:srgbClr val="A8B8CC"/>
                </a:solidFill>
                <a:latin typeface="Arial"/>
              </a:rPr>
              <a:t>33 landmarks 3D + visibility scores  |  Modo LIVE_STREAM  |  GPU delegate (OpenGL ES 3.1)  |  &gt;30 FPS em mid-range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29968"/>
            <a:ext cx="8595360" cy="192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1">
                <a:solidFill>
                  <a:srgbClr val="28BEDD"/>
                </a:solidFill>
                <a:latin typeface="Arial"/>
              </a:rPr>
              <a:t>  landmarks distribuidos para 4 modulos de analise em paralelo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40280"/>
            <a:ext cx="2057400" cy="169164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860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TRANSFERENCIA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 PESO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670048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2697480"/>
            <a:ext cx="1929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Landmarks quadril</a:t>
            </a:r>
          </a:p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(MediaPipe)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099816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Regras geometricas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502152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38728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 i="0">
                <a:solidFill>
                  <a:srgbClr val="FFEEBB"/>
                </a:solidFill>
                <a:latin typeface="Arial"/>
              </a:rPr>
              <a:t>v Esq. . Dir. . Neutro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749039"/>
            <a:ext cx="1965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rial"/>
              </a:rPr>
              <a:t>Feedback visual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50591" y="2240280"/>
            <a:ext cx="2057400" cy="1691640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1" y="22860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POSTURA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670048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599" y="2697480"/>
            <a:ext cx="1929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Landmarks superiores</a:t>
            </a:r>
          </a:p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(MediaPipe)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599" y="3099816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Regras geom.</a:t>
            </a:r>
          </a:p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+ TFLite Classifier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502152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1" y="3538728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 i="0">
                <a:solidFill>
                  <a:srgbClr val="FFEEBB"/>
                </a:solidFill>
                <a:latin typeface="Arial"/>
              </a:rPr>
              <a:t>v Conformidade/Desvio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6311" y="3749039"/>
            <a:ext cx="1965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rial"/>
              </a:rPr>
              <a:t>Feedback visual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240280"/>
            <a:ext cx="2057400" cy="1691640"/>
          </a:xfrm>
          <a:prstGeom prst="roundRect">
            <a:avLst/>
          </a:prstGeom>
          <a:solidFill>
            <a:srgbClr val="1B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22860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RITMO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6592" y="2670048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2697480"/>
            <a:ext cx="1929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Metronomo (AudioTrack)</a:t>
            </a:r>
          </a:p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BPM configuravel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3099816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Comparacao IBI x</a:t>
            </a:r>
          </a:p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cadencia de peso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3502152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2583" y="3538728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 i="0">
                <a:solidFill>
                  <a:srgbClr val="FFEEBB"/>
                </a:solidFill>
                <a:latin typeface="Arial"/>
              </a:rPr>
              <a:t>v Validacao ritmica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3" y="3749039"/>
            <a:ext cx="1965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rial"/>
              </a:rPr>
              <a:t>Visual + Auditivo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03136" y="2240280"/>
            <a:ext cx="2057400" cy="1691640"/>
          </a:xfrm>
          <a:prstGeom prst="round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8855" y="22860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IDENTIFICACAO</a:t>
            </a:r>
          </a:p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 MOVIMENTOS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12864" y="2670048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67144" y="2697480"/>
            <a:ext cx="19293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TFLite Classifier</a:t>
            </a:r>
          </a:p>
          <a:p>
            <a:pPr algn="ctr"/>
            <a:r>
              <a:rPr sz="780" b="0" i="0">
                <a:solidFill>
                  <a:srgbClr val="E8F4FF"/>
                </a:solidFill>
                <a:latin typeface="Arial"/>
              </a:rPr>
              <a:t>DTW + Templates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7144" y="3099816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6 passos do forro</a:t>
            </a:r>
          </a:p>
          <a:p>
            <a:pPr algn="ctr"/>
            <a:r>
              <a:rPr sz="750" b="0" i="1">
                <a:solidFill>
                  <a:srgbClr val="A8B8CC"/>
                </a:solidFill>
                <a:latin typeface="Arial"/>
              </a:rPr>
              <a:t>(B1,B2,B3,B4,Ab.,Bal.)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2864" y="3502152"/>
            <a:ext cx="183794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8855" y="3538728"/>
            <a:ext cx="19659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 i="0">
                <a:solidFill>
                  <a:srgbClr val="FFEEBB"/>
                </a:solidFill>
                <a:latin typeface="Arial"/>
              </a:rPr>
              <a:t>v Livre . Desafio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8855" y="3749039"/>
            <a:ext cx="19659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30" b="0" i="0">
                <a:solidFill>
                  <a:srgbClr val="FFFFFF"/>
                </a:solidFill>
                <a:latin typeface="Arial"/>
              </a:rPr>
              <a:t>Feedback visual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3950208"/>
            <a:ext cx="8595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 i="1">
                <a:solidFill>
                  <a:srgbClr val="28BEDD"/>
                </a:solidFill>
                <a:latin typeface="Arial"/>
              </a:rPr>
              <a:t>v  resultado enviado ao praticante em tempo real  v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0" y="4142232"/>
            <a:ext cx="6400800" cy="685800"/>
          </a:xfrm>
          <a:prstGeom prst="roundRect">
            <a:avLst/>
          </a:prstGeom>
          <a:solidFill>
            <a:srgbClr val="006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4151376"/>
            <a:ext cx="6400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Feedback ao Praticante  (latencia &lt; 100 ms)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443984"/>
            <a:ext cx="6400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 i="0">
                <a:solidFill>
                  <a:srgbClr val="A8B8CC"/>
                </a:solidFill>
                <a:latin typeface="Arial"/>
              </a:rPr>
              <a:t>Overlay visual cromatico por modulo  .  Pontuacao por sessao  .  Feedback auditivo (metronomo)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07898"/>
                </a:solidFill>
                <a:latin typeface="Arial"/>
              </a:rPr>
              <a:t>Danca AI  .  TCC01 . Engenharia de Computacao . UNIFEI . 2026  |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45720"/>
            <a:ext cx="8869680" cy="8046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Modulo 1  .  Transferencia de Peso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9496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28BEDD"/>
                </a:solidFill>
                <a:latin typeface="Arial"/>
              </a:rPr>
              <a:t>Classificacao do apoio corporal em tempo real a partir de landmarks de membros inferiores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941832"/>
            <a:ext cx="3931920" cy="3794760"/>
          </a:xfrm>
          <a:prstGeom prst="roundRect">
            <a:avLst/>
          </a:prstGeom>
          <a:solidFill>
            <a:srgbClr val="0E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014984"/>
            <a:ext cx="37124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DADOS DE ENTRADA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1271016"/>
            <a:ext cx="371246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325880"/>
            <a:ext cx="3712463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Landmarks MediaPipe (quadril e pernas):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hip_left  .  hip_right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knee_left  .  knee_right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ankle_left  .  ankle_right</a:t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>Filtro de visibilidade: &gt;= 0,5</a:t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>Taxa de atualizacao: &gt;= 20 FPS</a:t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>Coordenadas 3D normalizadas [0,1]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Base biomecanica: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Projecao do centro de gravidade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sobre o poligono de suporte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941832"/>
            <a:ext cx="4800600" cy="1810512"/>
          </a:xfrm>
          <a:prstGeom prst="round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014984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PROCESSAMENTO  —  Regras Geometricas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271016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325880"/>
            <a:ext cx="4581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1. Calcula centroide do quadril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 (media de hip_left e hip_right)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2. Calcula deslocamento lateral de cada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 tornozelo em relacao ao centroide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3. Aplica limiar calibravel para classificar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 Esq. / Dir. / Neutro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Angulo articular (Eq. 1):</a:t>
            </a:r>
          </a:p>
          <a:p>
            <a:pPr algn="l"/>
            <a:r>
              <a:rPr sz="950" b="0" i="1">
                <a:solidFill>
                  <a:srgbClr val="FFEEBB"/>
                </a:solidFill>
                <a:latin typeface="Arial"/>
              </a:rPr>
              <a:t>th = arccos( AP . AD / |AP| |AD| )</a:t>
            </a:r>
          </a:p>
          <a:p>
            <a:pPr algn="l"/>
            <a:r>
              <a:rPr sz="850" b="0" i="0">
                <a:solidFill>
                  <a:srgbClr val="A8B8CC"/>
                </a:solidFill>
                <a:latin typeface="Arial"/>
              </a:rPr>
              <a:t>Aplicado frame a frame via AngleCalculator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80360"/>
            <a:ext cx="4800600" cy="1856232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953512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SAIDA  &amp; 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3209544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264408"/>
            <a:ext cx="45811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Classes de saida: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Esquerdo  .  Direito  .  Neutro (ambos)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Feedback visual: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Overlay cromatico em tempo real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Azul -&gt; apoio esquerdo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Verde -&gt; apoio direito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Branco -&gt; neutro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Latencia ponta a ponta: &lt; 100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07898"/>
                </a:solidFill>
                <a:latin typeface="Arial"/>
              </a:rPr>
              <a:t>Danca AI  .  TCC01 . Engenharia de Computacao . UNIFEI . 2026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45720"/>
            <a:ext cx="8869680" cy="804672"/>
          </a:xfrm>
          <a:prstGeom prst="round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Modulo 2  .  Postura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9496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28BEDD"/>
                </a:solidFill>
                <a:latin typeface="Arial"/>
              </a:rPr>
              <a:t>Avaliacao do alinhamento de tronco e ombros — regras geometricas + classificador TFLite embarcado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941832"/>
            <a:ext cx="3931920" cy="3794760"/>
          </a:xfrm>
          <a:prstGeom prst="roundRect">
            <a:avLst/>
          </a:prstGeom>
          <a:solidFill>
            <a:srgbClr val="20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014984"/>
            <a:ext cx="37124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DADOS DE ENTRADA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1271016"/>
            <a:ext cx="371246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325880"/>
            <a:ext cx="3712463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Landmarks MediaPipe (parte superior):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shoulder_left  .  shoulder_right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elbow_left  .  elbow_right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hip_left  .  hip_right</a:t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>Filtro de visibilidade: &gt;= 0,5</a:t>
            </a:r>
          </a:p>
          <a:p>
            <a:pPr algn="l"/>
            <a:r>
              <a:rPr sz="900" b="0" i="0">
                <a:solidFill>
                  <a:srgbClr val="A8B8CC"/>
                </a:solidFill>
                <a:latin typeface="Arial"/>
              </a:rPr>
              <a:t>6 landmarks monitorados continuamente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Serie temporal de coordenadas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normalizadas por frame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-&gt; Entrada do classificador TFLite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941832"/>
            <a:ext cx="4800600" cy="1810512"/>
          </a:xfrm>
          <a:prstGeom prst="round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014984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PROCESSAMENTO  —  2 Camadas de Analise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271016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325880"/>
            <a:ext cx="4581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Camada 1 — Regras Geometricas: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Inclinacao do eixo ombro-quadril (angulo horizontal)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Simetria de ombros (diferenca de altura Y)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Verificacao de abertura excessiva de bracos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Camada 2 — TFLite Classifier (CNN-LSTM):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Treinado em videos de dancadores qualificados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Quantizacao INT8  .  Delegate GPU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Inferencia: ~10 ms por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80360"/>
            <a:ext cx="4800600" cy="1856232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953512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SAIDA  &amp; 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3209544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264408"/>
            <a:ext cx="45811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Classes de saida: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Postura correta  .  Desvio de tronco  .  Desvio de ombros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Feedback visual: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Overlay cromatico por articulacao monitorada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Indicador de conformidade por sessao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Acuracia alvo do modelo: &gt; 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07898"/>
                </a:solidFill>
                <a:latin typeface="Arial"/>
              </a:rPr>
              <a:t>Danca AI  .  TCC01 . Engenharia de Computacao . UNIFEI . 2026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45720"/>
            <a:ext cx="8869680" cy="804672"/>
          </a:xfrm>
          <a:prstGeom prst="roundRect">
            <a:avLst/>
          </a:prstGeom>
          <a:solidFill>
            <a:srgbClr val="1B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Modulo 3  .  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9496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28BEDD"/>
                </a:solidFill>
                <a:latin typeface="Arial"/>
              </a:rPr>
              <a:t>Sincronizacao sensoriomotora com metronomo configuravel via AudioTrack — validacao por comparacao de IBI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941832"/>
            <a:ext cx="3931920" cy="3794760"/>
          </a:xfrm>
          <a:prstGeom prst="roundRect">
            <a:avLst/>
          </a:prstGeom>
          <a:solidFill>
            <a:srgbClr val="0C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014984"/>
            <a:ext cx="37124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DADOS DE ENTRADA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1271016"/>
            <a:ext cx="371246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325880"/>
            <a:ext cx="3712463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Entrada 1 — Metronomo (AudioTrack):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BPM configurado pelo praticante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Geracao de sinal PCM em thread dedicada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Latencia de saida: ~10 ms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Entrada 2 — Modulo de Transferencia de Peso: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Cadencia de alternâncias esq./dir.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detectada em tempo real pelo Modulo 1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Faixa do forro universitario: 100 — 180 BPM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941832"/>
            <a:ext cx="4800600" cy="1810512"/>
          </a:xfrm>
          <a:prstGeom prst="round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014984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PROCESSAMENTO  —  Comparacao de IBI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271016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325880"/>
            <a:ext cx="4581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IBI do metronomo: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IBI = 60.000 / BPM  (ms)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Ex.: 120 BPM -&gt; IBI = 500 ms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Validacao ritmica: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Registra timestamp de cada troca de apoio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Calcula IBI observado entre trocas consecutivas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Compara IBI observado vs IBI do metronomo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Margem de tolerancia: +/- 0,5 compasso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80360"/>
            <a:ext cx="4800600" cy="1856232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953512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SAIDA  &amp; 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3209544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264408"/>
            <a:ext cx="45811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Resultado: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Em ritmo v  — dentro da margem de tolerancia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Fora do ritmo x  — desvio &gt; 0,5 compasso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Feedback auditivo: pulsacao continua do metronomo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Feedback visual: indicador de conformidade ritmica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Erro aceitavel: &lt; 1 compasso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07898"/>
                </a:solidFill>
                <a:latin typeface="Arial"/>
              </a:rPr>
              <a:t>Danca AI  .  TCC01 . Engenharia de Computacao . UNIFEI . 2026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45720"/>
            <a:ext cx="8869680" cy="804672"/>
          </a:xfrm>
          <a:prstGeom prst="roundRect">
            <a:avLst/>
          </a:prstGeom>
          <a:solidFill>
            <a:srgbClr val="C8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Modulo 4  .  Identificacao de Movimentos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39496"/>
            <a:ext cx="8503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 i="0">
                <a:solidFill>
                  <a:srgbClr val="28BEDD"/>
                </a:solidFill>
                <a:latin typeface="Arial"/>
              </a:rPr>
              <a:t>Reconhecimento e avaliacao dos 6 passos do forro universitario — TFLite Classifier + DTW Sakoe-Chiba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941832"/>
            <a:ext cx="3931920" cy="3794760"/>
          </a:xfrm>
          <a:prstGeom prst="roundRect">
            <a:avLst/>
          </a:prstGeom>
          <a:solidFill>
            <a:srgbClr val="36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" y="1014984"/>
            <a:ext cx="371246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PASSOS ANALISADOS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1271016"/>
            <a:ext cx="3712463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" y="1325880"/>
            <a:ext cx="3712463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Vocabulario de movimentos: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&gt; Balanco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&gt; Base 1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&gt; Base 2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&gt; Abertura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&gt; Giro Invertido  (Base 3)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  &gt; Giro em Linha  (Base 4)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/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Entrada: serie temporal de 33 landmarks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Janelas deslizantes de N frames</a:t>
            </a:r>
          </a:p>
          <a:p>
            <a:pPr algn="l"/>
            <a:r>
              <a:rPr sz="900" b="0" i="1">
                <a:solidFill>
                  <a:srgbClr val="28BEDD"/>
                </a:solidFill>
                <a:latin typeface="Arial"/>
              </a:rPr>
              <a:t>Coord. 3D normalizadas por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941832"/>
            <a:ext cx="4800600" cy="1810512"/>
          </a:xfrm>
          <a:prstGeom prst="roundRect">
            <a:avLst/>
          </a:prstGeom>
          <a:solidFill>
            <a:srgbClr val="1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014984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PROCESSAMENTO  —  TFLite + DTW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1271016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325880"/>
            <a:ext cx="45811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Classificador TFLite (CNN-LSTM):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Treinado em videos de dancadores qualificados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Quantizacao INT8  .  Delegate GPU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Inferencia: ~10 ms  .  Acuracia alvo: &gt; 85%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DTW com janela de Sakoe-Chiba: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Templates gravados com instrutor qualificado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Complexidade O(n.w) — viavel em tempo real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Execucao: &lt; 5 ms por sequencia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. Invariante a distorcoes temporais locais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80360"/>
            <a:ext cx="4800600" cy="1856232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953512"/>
            <a:ext cx="4581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8BEDD"/>
                </a:solidFill>
                <a:latin typeface="Arial"/>
              </a:rPr>
              <a:t>MODOS DE USO  &amp;  FEEDBACK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3209544"/>
            <a:ext cx="4581144" cy="109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264408"/>
            <a:ext cx="458114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Modo Livre: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Identifica o passo executado em tempo real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Retorna conformidade com o template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E8F4FF"/>
                </a:solidFill>
                <a:latin typeface="Arial"/>
              </a:rPr>
              <a:t>Modo Desafio: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Praticante segue sequencia pre-definida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  Sistema registra acerto / erro por passo</a:t>
            </a:r>
          </a:p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900" b="1" i="0">
                <a:solidFill>
                  <a:srgbClr val="FFEEBB"/>
                </a:solidFill>
                <a:latin typeface="Arial"/>
              </a:rPr>
              <a:t>Feedback: overlay visual cromatico por segmento corporal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 i="0">
                <a:solidFill>
                  <a:srgbClr val="607898"/>
                </a:solidFill>
                <a:latin typeface="Arial"/>
              </a:rPr>
              <a:t>Danca AI  .  TCC01 . Engenharia de Computacao . UNIFEI . 2026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